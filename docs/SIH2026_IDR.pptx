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Dead reckoning + heading feedback (live today)</c:v>
                </c:pt>
              </c:strCache>
            </c:strRef>
          </c:tx>
          <c:spPr>
            <a:solidFill>
              <a:srgbClr val="1B6F8A"/>
            </a:solidFill>
          </c:spPr>
          <c:cat>
            <c:strRef>
              <c:f>Sheet1!$A$2:$A$4</c:f>
              <c:strCache>
                <c:ptCount val="3"/>
                <c:pt idx="0">
                  <c:v>10 s outage</c:v>
                </c:pt>
                <c:pt idx="1">
                  <c:v>30 s outage</c:v>
                </c:pt>
                <c:pt idx="2">
                  <c:v>60 s outage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10.2</c:v>
                </c:pt>
                <c:pt idx="1">
                  <c:v>36.0</c:v>
                </c:pt>
                <c:pt idx="2">
                  <c:v>87.5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Along-road, fed integrator distance</c:v>
                </c:pt>
              </c:strCache>
            </c:strRef>
          </c:tx>
          <c:spPr>
            <a:solidFill>
              <a:srgbClr val="B0BECC"/>
            </a:solidFill>
          </c:spPr>
          <c:cat>
            <c:strRef>
              <c:f>Sheet1!$A$2:$A$4</c:f>
              <c:strCache>
                <c:ptCount val="3"/>
                <c:pt idx="0">
                  <c:v>10 s outage</c:v>
                </c:pt>
                <c:pt idx="1">
                  <c:v>30 s outage</c:v>
                </c:pt>
                <c:pt idx="2">
                  <c:v>60 s outage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12.6</c:v>
                </c:pt>
                <c:pt idx="1">
                  <c:v>40.8</c:v>
                </c:pt>
                <c:pt idx="2">
                  <c:v>104.7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Along-road, fed true distance</c:v>
                </c:pt>
              </c:strCache>
            </c:strRef>
          </c:tx>
          <c:spPr>
            <a:solidFill>
              <a:srgbClr val="F2A93B"/>
            </a:solidFill>
          </c:spPr>
          <c:cat>
            <c:strRef>
              <c:f>Sheet1!$A$2:$A$4</c:f>
              <c:strCache>
                <c:ptCount val="3"/>
                <c:pt idx="0">
                  <c:v>10 s outage</c:v>
                </c:pt>
                <c:pt idx="1">
                  <c:v>30 s outage</c:v>
                </c:pt>
                <c:pt idx="2">
                  <c:v>60 s outage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8.3</c:v>
                </c:pt>
                <c:pt idx="1">
                  <c:v>22.3</c:v>
                </c:pt>
                <c:pt idx="2">
                  <c:v>50.5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900">
                  <a:solidFill>
                    <a:srgbClr val="1F29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BD5E1"/>
            </a:solidFill>
          </a:ln>
        </c:spPr>
        <c:txPr>
          <a:bodyPr/>
          <a:lstStyle/>
          <a:p>
            <a:pPr>
              <a:defRPr sz="1000">
                <a:solidFill>
                  <a:srgbClr val="1F2933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900" b="0">
                    <a:solidFill>
                      <a:srgbClr val="5F6B7A"/>
                    </a:solidFill>
                  </a:rPr>
                  <a:t>mean error, m (CRSE)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F6B7A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1F2933"/>
              </a:solidFill>
            </a:defRPr>
          </a:pPr>
        </a:p>
      </c:txPr>
    </c:legend>
    <c:dispBlanksAs val="gap"/>
  </c:chart>
  <c:txPr>
    <a:bodyPr/>
    <a:lstStyle/>
    <a:p>
      <a:pPr>
        <a:defRPr sz="1800"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2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FB3C8"/>
                </a:solidFill>
                <a:latin typeface="Calibri"/>
              </a:rPr>
              <a:t>Smart India Hackathon 2026  ·  Intelligent Dead Reckoning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2A93B"/>
                </a:solidFill>
                <a:latin typeface="Calibri"/>
              </a:rPr>
              <a:t>SMART INDIA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69494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Intelligent Dead Reckoning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6766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C9D6E2"/>
                </a:solidFill>
                <a:latin typeface="Calibri"/>
              </a:rPr>
              <a:t>A phone that keeps a vehicle on the map when GNSS goes dark: tunnels, underpasses, multi-level parking and urban canyons. Fully offline, no server, no extra hardware.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154680"/>
            <a:ext cx="3310128" cy="914400"/>
          </a:xfrm>
          <a:prstGeom prst="roundRect">
            <a:avLst>
              <a:gd name="adj" fmla="val 12000"/>
            </a:avLst>
          </a:prstGeom>
          <a:solidFill>
            <a:srgbClr val="17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59" y="3282696"/>
            <a:ext cx="2944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2A93B"/>
                </a:solidFill>
                <a:latin typeface="Calibri"/>
              </a:rPr>
              <a:t>PROBLEM STATEMENT 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538728"/>
            <a:ext cx="29443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SIH26168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3154680"/>
            <a:ext cx="3310128" cy="914400"/>
          </a:xfrm>
          <a:prstGeom prst="roundRect">
            <a:avLst>
              <a:gd name="adj" fmla="val 12000"/>
            </a:avLst>
          </a:prstGeom>
          <a:solidFill>
            <a:srgbClr val="17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297680" y="3282696"/>
            <a:ext cx="2944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2A93B"/>
                </a:solidFill>
                <a:latin typeface="Calibri"/>
              </a:rPr>
              <a:t>PROBLEM STATEMENT TITLE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3538728"/>
            <a:ext cx="29443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AI-based dead reckoning for vehicle positioning in GNSS-denied environments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233672"/>
            <a:ext cx="3310128" cy="914400"/>
          </a:xfrm>
          <a:prstGeom prst="roundRect">
            <a:avLst>
              <a:gd name="adj" fmla="val 12000"/>
            </a:avLst>
          </a:prstGeom>
          <a:solidFill>
            <a:srgbClr val="17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22959" y="4361688"/>
            <a:ext cx="2944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2A93B"/>
                </a:solidFill>
                <a:latin typeface="Calibri"/>
              </a:rPr>
              <a:t>THEME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4617720"/>
            <a:ext cx="29443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Smart Vehicles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0" y="4233672"/>
            <a:ext cx="3310128" cy="914400"/>
          </a:xfrm>
          <a:prstGeom prst="roundRect">
            <a:avLst>
              <a:gd name="adj" fmla="val 12000"/>
            </a:avLst>
          </a:prstGeom>
          <a:solidFill>
            <a:srgbClr val="17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297680" y="4361688"/>
            <a:ext cx="2944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2A93B"/>
                </a:solidFill>
                <a:latin typeface="Calibri"/>
              </a:rPr>
              <a:t>PS CATEGORY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4617720"/>
            <a:ext cx="29443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Software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312664"/>
            <a:ext cx="3310128" cy="914400"/>
          </a:xfrm>
          <a:prstGeom prst="roundRect">
            <a:avLst>
              <a:gd name="adj" fmla="val 12000"/>
            </a:avLst>
          </a:prstGeom>
          <a:solidFill>
            <a:srgbClr val="17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22959" y="5440680"/>
            <a:ext cx="2944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2A93B"/>
                </a:solidFill>
                <a:latin typeface="Calibri"/>
              </a:rPr>
              <a:t>TEAM 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5696712"/>
            <a:ext cx="29443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420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0" y="5312664"/>
            <a:ext cx="3310128" cy="914400"/>
          </a:xfrm>
          <a:prstGeom prst="roundRect">
            <a:avLst>
              <a:gd name="adj" fmla="val 12000"/>
            </a:avLst>
          </a:prstGeom>
          <a:solidFill>
            <a:srgbClr val="17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297680" y="5440680"/>
            <a:ext cx="2944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2A93B"/>
                </a:solidFill>
                <a:latin typeface="Calibri"/>
              </a:rPr>
              <a:t>TEAM NAME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5696712"/>
            <a:ext cx="29443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Odyssey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18120" y="1005840"/>
            <a:ext cx="3749039" cy="3017520"/>
          </a:xfrm>
          <a:prstGeom prst="roundRect">
            <a:avLst>
              <a:gd name="adj" fmla="val 6060"/>
            </a:avLst>
          </a:prstGeom>
          <a:solidFill>
            <a:srgbClr val="17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5" name="Connector 24"/>
          <p:cNvCxnSpPr/>
          <p:nvPr/>
        </p:nvCxnSpPr>
        <p:spPr>
          <a:xfrm>
            <a:off x="8001000" y="2514600"/>
            <a:ext cx="3383280" cy="0"/>
          </a:xfrm>
          <a:prstGeom prst="line">
            <a:avLst/>
          </a:prstGeom>
          <a:ln w="203200">
            <a:solidFill>
              <a:srgbClr val="2A44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167774" y="2295144"/>
            <a:ext cx="1049731" cy="438912"/>
          </a:xfrm>
          <a:prstGeom prst="roundRect">
            <a:avLst>
              <a:gd name="adj" fmla="val 16666"/>
            </a:avLst>
          </a:prstGeom>
          <a:solidFill>
            <a:srgbClr val="0A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167774" y="2011680"/>
            <a:ext cx="104973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F2A93B"/>
                </a:solidFill>
                <a:latin typeface="Calibri"/>
              </a:rPr>
              <a:t>TUNNEL</a:t>
            </a:r>
          </a:p>
        </p:txBody>
      </p:sp>
      <p:sp>
        <p:nvSpPr>
          <p:cNvPr id="28" name="Freeform 27"/>
          <p:cNvSpPr/>
          <p:nvPr/>
        </p:nvSpPr>
        <p:spPr>
          <a:xfrm>
            <a:off x="8092440" y="2542032"/>
            <a:ext cx="1029614" cy="0"/>
          </a:xfrm>
          <a:custGeom>
            <a:avLst/>
            <a:gdLst/>
            <a:ahLst/>
            <a:cxnLst/>
            <a:rect l="l" t="t" r="r" b="b"/>
            <a:pathLst>
              <a:path w="1029614" h="0">
                <a:moveTo>
                  <a:pt x="0" y="0"/>
                </a:moveTo>
                <a:lnTo>
                  <a:pt x="1029614" y="0"/>
                </a:lnTo>
              </a:path>
            </a:pathLst>
          </a:custGeom>
          <a:noFill/>
          <a:ln w="444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10263225" y="2542032"/>
            <a:ext cx="1029615" cy="0"/>
          </a:xfrm>
          <a:custGeom>
            <a:avLst/>
            <a:gdLst/>
            <a:ahLst/>
            <a:cxnLst/>
            <a:rect l="l" t="t" r="r" b="b"/>
            <a:pathLst>
              <a:path w="1029615" h="0">
                <a:moveTo>
                  <a:pt x="0" y="0"/>
                </a:moveTo>
                <a:lnTo>
                  <a:pt x="1029615" y="0"/>
                </a:lnTo>
              </a:path>
            </a:pathLst>
          </a:custGeom>
          <a:noFill/>
          <a:ln w="444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9122054" y="1645920"/>
            <a:ext cx="2170786" cy="850392"/>
          </a:xfrm>
          <a:custGeom>
            <a:avLst/>
            <a:gdLst/>
            <a:ahLst/>
            <a:cxnLst/>
            <a:rect l="l" t="t" r="r" b="b"/>
            <a:pathLst>
              <a:path w="2170786" h="850392">
                <a:moveTo>
                  <a:pt x="0" y="850392"/>
                </a:moveTo>
                <a:lnTo>
                  <a:pt x="365760" y="758952"/>
                </a:lnTo>
                <a:lnTo>
                  <a:pt x="1095451" y="457200"/>
                </a:lnTo>
                <a:lnTo>
                  <a:pt x="2170786" y="0"/>
                </a:lnTo>
              </a:path>
            </a:pathLst>
          </a:custGeom>
          <a:noFill/>
          <a:ln w="38100">
            <a:solidFill>
              <a:srgbClr val="F9731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49840" y="132588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1">
                <a:solidFill>
                  <a:srgbClr val="F97316"/>
                </a:solidFill>
                <a:latin typeface="Calibri"/>
              </a:rPr>
              <a:t>drift</a:t>
            </a:r>
          </a:p>
        </p:txBody>
      </p:sp>
      <p:sp>
        <p:nvSpPr>
          <p:cNvPr id="32" name="Freeform 31"/>
          <p:cNvSpPr/>
          <p:nvPr/>
        </p:nvSpPr>
        <p:spPr>
          <a:xfrm>
            <a:off x="9122054" y="2487168"/>
            <a:ext cx="1141171" cy="0"/>
          </a:xfrm>
          <a:custGeom>
            <a:avLst/>
            <a:gdLst/>
            <a:ahLst/>
            <a:cxnLst/>
            <a:rect l="l" t="t" r="r" b="b"/>
            <a:pathLst>
              <a:path w="1141171" h="0">
                <a:moveTo>
                  <a:pt x="0" y="0"/>
                </a:moveTo>
                <a:lnTo>
                  <a:pt x="1141171" y="0"/>
                </a:lnTo>
              </a:path>
            </a:pathLst>
          </a:custGeom>
          <a:noFill/>
          <a:ln w="4445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8046720" y="3730752"/>
            <a:ext cx="320040" cy="0"/>
          </a:xfrm>
          <a:prstGeom prst="line">
            <a:avLst/>
          </a:prstGeom>
          <a:ln w="381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430768" y="3639312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C9D6E2"/>
                </a:solidFill>
                <a:latin typeface="Calibri"/>
              </a:rPr>
              <a:t>GNSS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144000" y="3730752"/>
            <a:ext cx="320040" cy="0"/>
          </a:xfrm>
          <a:prstGeom prst="line">
            <a:avLst/>
          </a:prstGeom>
          <a:ln w="38100">
            <a:solidFill>
              <a:srgbClr val="F9731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9528048" y="3639312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C9D6E2"/>
                </a:solidFill>
                <a:latin typeface="Calibri"/>
              </a:rPr>
              <a:t>IMU only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0241280" y="3730752"/>
            <a:ext cx="320040" cy="0"/>
          </a:xfrm>
          <a:prstGeom prst="line">
            <a:avLst/>
          </a:prstGeom>
          <a:ln w="38100">
            <a:solidFill>
              <a:srgbClr val="22C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0625328" y="3639312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C9D6E2"/>
                </a:solidFill>
                <a:latin typeface="Calibri"/>
              </a:rPr>
              <a:t>Map-snapped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18120" y="4160520"/>
            <a:ext cx="3749039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Three tracks drawn live on the phone. </a:t>
            </a:r>
            <a:r>
              <a:rPr sz="1200" b="0" i="0">
                <a:solidFill>
                  <a:srgbClr val="C9D6E2"/>
                </a:solidFill>
                <a:latin typeface="Calibri"/>
              </a:rPr>
              <a:t>Blue is GNSS, orange is the IMU integrating alone, green is the estimate snapped to the offline road graph. The gap between orange and green is what the tunnel costs.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F2233"/>
                </a:solidFill>
                <a:latin typeface="Calibri"/>
              </a:rPr>
              <a:t>Idea &amp; 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Calibri"/>
              </a:rPr>
              <a:t>Smart India Hackathon 2026  ·  Intelligent Dead Reckoning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Calibri"/>
              </a:rPr>
              <a:t>2 /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B6F8A"/>
                </a:solidFill>
                <a:latin typeface="Calibri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1206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64592">
              <a:lnSpc>
                <a:spcPct val="110000"/>
              </a:lnSpc>
              <a:spcAft>
                <a:spcPts val="600"/>
              </a:spcAft>
              <a:buChar char="•"/>
            </a:pPr>
            <a:r>
              <a:rPr sz="1250" b="0" i="0">
                <a:solidFill>
                  <a:srgbClr val="1F2933"/>
                </a:solidFill>
                <a:latin typeface="Calibri"/>
              </a:rPr>
              <a:t>GNSS fails exactly where a driver needs it most: tunnels, underpasses, flyover stacks, parking decks and dense urban canyons.</a:t>
            </a:r>
          </a:p>
          <a:p>
            <a:pPr algn="l" marL="164592" indent="-164592">
              <a:lnSpc>
                <a:spcPct val="110000"/>
              </a:lnSpc>
              <a:spcAft>
                <a:spcPts val="600"/>
              </a:spcAft>
              <a:buChar char="•"/>
            </a:pPr>
            <a:r>
              <a:rPr sz="1250" b="0" i="0">
                <a:solidFill>
                  <a:srgbClr val="1F2933"/>
                </a:solidFill>
                <a:latin typeface="Calibri"/>
              </a:rPr>
              <a:t>Consumer navigation freezes or jumps to a wrong road, and recovers only after the sky is back.</a:t>
            </a:r>
          </a:p>
          <a:p>
            <a:pPr algn="l" marL="164592" indent="-164592">
              <a:lnSpc>
                <a:spcPct val="110000"/>
              </a:lnSpc>
              <a:spcAft>
                <a:spcPts val="600"/>
              </a:spcAft>
              <a:buChar char="•"/>
            </a:pPr>
            <a:r>
              <a:rPr sz="1250" b="0" i="0">
                <a:solidFill>
                  <a:srgbClr val="1F2933"/>
                </a:solidFill>
                <a:latin typeface="Calibri"/>
              </a:rPr>
              <a:t>The phone's own IMU can bridge the gap, but drifts by tens of metres within a minute if it is left to integrate on its own.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0896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B6F8A"/>
                </a:solidFill>
                <a:latin typeface="Calibri"/>
              </a:rPr>
              <a:t>OUR SOLUTION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474720"/>
            <a:ext cx="5120640" cy="1417320"/>
          </a:xfrm>
          <a:prstGeom prst="roundRect">
            <a:avLst>
              <a:gd name="adj" fmla="val 9677"/>
            </a:avLst>
          </a:prstGeom>
          <a:solidFill>
            <a:srgbClr val="E3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1520" y="3584448"/>
            <a:ext cx="475488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1F2933"/>
                </a:solidFill>
                <a:latin typeface="Calibri"/>
              </a:rPr>
              <a:t>An Android app that fuses the phone's IMU, GNSS and an </a:t>
            </a:r>
            <a:r>
              <a:rPr sz="1350" b="1" i="0">
                <a:solidFill>
                  <a:srgbClr val="1F2933"/>
                </a:solidFill>
                <a:latin typeface="Calibri"/>
              </a:rPr>
              <a:t>offline OpenStreetMap road graph</a:t>
            </a:r>
            <a:r>
              <a:rPr sz="1350" b="0" i="0">
                <a:solidFill>
                  <a:srgbClr val="1F2933"/>
                </a:solidFill>
                <a:latin typeface="Calibri"/>
              </a:rPr>
              <a:t>, shifting trust from satellites to inertial sensing </a:t>
            </a:r>
            <a:r>
              <a:rPr sz="1350" b="1" i="0">
                <a:solidFill>
                  <a:srgbClr val="1F2933"/>
                </a:solidFill>
                <a:latin typeface="Calibri"/>
              </a:rPr>
              <a:t>before</a:t>
            </a:r>
            <a:r>
              <a:rPr sz="1350" b="0" i="0">
                <a:solidFill>
                  <a:srgbClr val="1F2933"/>
                </a:solidFill>
                <a:latin typeface="Calibri"/>
              </a:rPr>
              <a:t> the fix is lost, and snapping the drifting estimate back onto the road so the vehicle never leaves the map.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12064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B6F8A"/>
                </a:solidFill>
                <a:latin typeface="Calibri"/>
              </a:rPr>
              <a:t>HOW IT DIFFERS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44068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0F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48640" y="544068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100% offline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0" y="544068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0F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200400" y="544068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No server, no API key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916168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0F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48640" y="5916168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No extra hardware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0" y="5916168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0F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3200400" y="5916168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Measured, not assumed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0" y="1143000"/>
            <a:ext cx="2743200" cy="2240280"/>
          </a:xfrm>
          <a:prstGeom prst="roundRect">
            <a:avLst>
              <a:gd name="adj" fmla="val 6122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6217920" y="1325880"/>
            <a:ext cx="384048" cy="384048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F2233"/>
                </a:solidFill>
                <a:latin typeface="Calibr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93407" y="132588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0F2233"/>
                </a:solidFill>
                <a:latin typeface="Calibri"/>
              </a:rPr>
              <a:t>Strapdown inertial integrator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1856232"/>
            <a:ext cx="237744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F2933"/>
                </a:solidFill>
                <a:latin typeface="Calibri"/>
              </a:rPr>
              <a:t>Attitude from the rotation vector, acceleration levelled into ENU, gravity and bias learned on the device. Zero-velocity updates pin drift at every stop.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42832" y="1143000"/>
            <a:ext cx="2743200" cy="2240280"/>
          </a:xfrm>
          <a:prstGeom prst="roundRect">
            <a:avLst>
              <a:gd name="adj" fmla="val 6122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125711" y="1325880"/>
            <a:ext cx="384048" cy="384048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F2233"/>
                </a:solidFill>
                <a:latin typeface="Calibr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132588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0F2233"/>
                </a:solidFill>
                <a:latin typeface="Calibri"/>
              </a:rPr>
              <a:t>GNSS trust gate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25711" y="1856232"/>
            <a:ext cx="237744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F2933"/>
                </a:solidFill>
                <a:latin typeface="Calibri"/>
              </a:rPr>
              <a:t>Satellite count and C/N0 collapse before fixes stop. The filter hands over to the IMU on that early evidence instead of waiting for a timeout.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35040" y="3547872"/>
            <a:ext cx="2743200" cy="2240280"/>
          </a:xfrm>
          <a:prstGeom prst="roundRect">
            <a:avLst>
              <a:gd name="adj" fmla="val 6122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6217920" y="3730752"/>
            <a:ext cx="384048" cy="384048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F2233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93407" y="3730752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0F2233"/>
                </a:solidFill>
                <a:latin typeface="Calibri"/>
              </a:rPr>
              <a:t>On-device HMM map matching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4261104"/>
            <a:ext cx="237744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F2933"/>
                </a:solidFill>
                <a:latin typeface="Calibri"/>
              </a:rPr>
              <a:t>A Viterbi matcher snaps the estimate to the road and feeds the road bearing back as a heading observation. Heading error stops accumulating.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42832" y="3547872"/>
            <a:ext cx="2743200" cy="2240280"/>
          </a:xfrm>
          <a:prstGeom prst="roundRect">
            <a:avLst>
              <a:gd name="adj" fmla="val 6122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9125711" y="3730752"/>
            <a:ext cx="384048" cy="384048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F2233"/>
                </a:solidFill>
                <a:latin typeface="Calibr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3730752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0F2233"/>
                </a:solidFill>
                <a:latin typeface="Calibri"/>
              </a:rPr>
              <a:t>Road graph rebuilt on the phone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25711" y="4261104"/>
            <a:ext cx="237744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F2933"/>
                </a:solidFill>
                <a:latin typeface="Calibri"/>
              </a:rPr>
              <a:t>Mapsforge vector tiles carry no connectivity. We recover it by snapping endpoints on a half-metre grid, so no routing server is needed, even underground.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F2233"/>
                </a:solidFill>
                <a:latin typeface="Calibri"/>
              </a:rPr>
              <a:t>Technical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Calibri"/>
              </a:rPr>
              <a:t>Smart India Hackathon 2026  ·  Intelligent Dead Reckoning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Calibri"/>
              </a:rPr>
              <a:t>3 /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1737360" cy="1600200"/>
          </a:xfrm>
          <a:prstGeom prst="roundRect">
            <a:avLst>
              <a:gd name="adj" fmla="val 8000"/>
            </a:avLst>
          </a:prstGeom>
          <a:solidFill>
            <a:srgbClr val="E3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685800" y="1325880"/>
            <a:ext cx="310896" cy="310896"/>
          </a:xfrm>
          <a:prstGeom prst="ellipse">
            <a:avLst/>
          </a:prstGeom>
          <a:solidFill>
            <a:srgbClr val="1B6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307592"/>
            <a:ext cx="1143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0F2233"/>
                </a:solidFill>
                <a:latin typeface="Calibri"/>
              </a:rPr>
              <a:t>Phone sensors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1463039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1F2933"/>
                </a:solidFill>
                <a:latin typeface="Calibri"/>
              </a:rPr>
              <a:t>Accel, gyro, mag, rotation vector, barometer at 200 Hz; GNSS + satellite status at 1 Hz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95144" y="1988819"/>
            <a:ext cx="118872" cy="0"/>
          </a:xfrm>
          <a:prstGeom prst="line">
            <a:avLst/>
          </a:prstGeom>
          <a:ln w="25400">
            <a:solidFill>
              <a:srgbClr val="1B6F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423160" y="1188720"/>
            <a:ext cx="1737360" cy="1600200"/>
          </a:xfrm>
          <a:prstGeom prst="roundRect">
            <a:avLst>
              <a:gd name="adj" fmla="val 8000"/>
            </a:avLst>
          </a:prstGeom>
          <a:solidFill>
            <a:srgbClr val="E3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2560320" y="1325880"/>
            <a:ext cx="310896" cy="310896"/>
          </a:xfrm>
          <a:prstGeom prst="ellipse">
            <a:avLst/>
          </a:prstGeom>
          <a:solidFill>
            <a:srgbClr val="1B6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1307592"/>
            <a:ext cx="1143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0F2233"/>
                </a:solidFill>
                <a:latin typeface="Calibri"/>
              </a:rPr>
              <a:t>Levelling &amp; ZUPT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1737360"/>
            <a:ext cx="1463039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1F2933"/>
                </a:solidFill>
                <a:latin typeface="Calibri"/>
              </a:rPr>
              <a:t>Rotate into ENU, remove learned gravity and bias, zero-velocity update when parked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69663" y="1988819"/>
            <a:ext cx="118873" cy="0"/>
          </a:xfrm>
          <a:prstGeom prst="line">
            <a:avLst/>
          </a:prstGeom>
          <a:ln w="25400">
            <a:solidFill>
              <a:srgbClr val="1B6F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297679" y="1188720"/>
            <a:ext cx="1737360" cy="1600200"/>
          </a:xfrm>
          <a:prstGeom prst="roundRect">
            <a:avLst>
              <a:gd name="adj" fmla="val 8000"/>
            </a:avLst>
          </a:prstGeom>
          <a:solidFill>
            <a:srgbClr val="0F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4434840" y="1325880"/>
            <a:ext cx="310896" cy="310896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F2233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599" y="1307592"/>
            <a:ext cx="1143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Strapdown integrator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1737360"/>
            <a:ext cx="1463039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DDE7EF"/>
                </a:solidFill>
                <a:latin typeface="Calibri"/>
              </a:rPr>
              <a:t>10 Hz position and velocity; re-anchored to GNSS only while the fix is healthy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44183" y="1988819"/>
            <a:ext cx="118873" cy="0"/>
          </a:xfrm>
          <a:prstGeom prst="line">
            <a:avLst/>
          </a:prstGeom>
          <a:ln w="25400">
            <a:solidFill>
              <a:srgbClr val="1B6F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72199" y="1188720"/>
            <a:ext cx="1737360" cy="1600200"/>
          </a:xfrm>
          <a:prstGeom prst="roundRect">
            <a:avLst>
              <a:gd name="adj" fmla="val 8000"/>
            </a:avLst>
          </a:prstGeom>
          <a:solidFill>
            <a:srgbClr val="0F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6309359" y="1325880"/>
            <a:ext cx="310896" cy="310896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F2233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19" y="1307592"/>
            <a:ext cx="1143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HMM map matcher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59" y="1737360"/>
            <a:ext cx="1463039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DDE7EF"/>
                </a:solidFill>
                <a:latin typeface="Calibri"/>
              </a:rPr>
              <a:t>Viterbi over the on-device road graph; matched bearing fed back as heading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918703" y="1988819"/>
            <a:ext cx="118872" cy="0"/>
          </a:xfrm>
          <a:prstGeom prst="line">
            <a:avLst/>
          </a:prstGeom>
          <a:ln w="25400">
            <a:solidFill>
              <a:srgbClr val="1B6F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046719" y="1188720"/>
            <a:ext cx="1737360" cy="1600200"/>
          </a:xfrm>
          <a:prstGeom prst="roundRect">
            <a:avLst>
              <a:gd name="adj" fmla="val 8000"/>
            </a:avLst>
          </a:prstGeom>
          <a:solidFill>
            <a:srgbClr val="E3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8183879" y="1325880"/>
            <a:ext cx="310896" cy="310896"/>
          </a:xfrm>
          <a:prstGeom prst="ellipse">
            <a:avLst/>
          </a:prstGeom>
          <a:solidFill>
            <a:srgbClr val="1B6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40" y="1307592"/>
            <a:ext cx="1143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0F2233"/>
                </a:solidFill>
                <a:latin typeface="Calibri"/>
              </a:rPr>
              <a:t>Along-road tracker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79" y="1737360"/>
            <a:ext cx="1463039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1F2933"/>
                </a:solidFill>
                <a:latin typeface="Calibri"/>
              </a:rPr>
              <a:t>Position as a scalar along the road polyline during an outage; road supplies direction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793224" y="1988819"/>
            <a:ext cx="118872" cy="0"/>
          </a:xfrm>
          <a:prstGeom prst="line">
            <a:avLst/>
          </a:prstGeom>
          <a:ln w="25400">
            <a:solidFill>
              <a:srgbClr val="1B6F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921240" y="1188720"/>
            <a:ext cx="1737360" cy="1600200"/>
          </a:xfrm>
          <a:prstGeom prst="roundRect">
            <a:avLst>
              <a:gd name="adj" fmla="val 8000"/>
            </a:avLst>
          </a:prstGeom>
          <a:solidFill>
            <a:srgbClr val="E3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10058400" y="1325880"/>
            <a:ext cx="310896" cy="310896"/>
          </a:xfrm>
          <a:prstGeom prst="ellipse">
            <a:avLst/>
          </a:prstGeom>
          <a:solidFill>
            <a:srgbClr val="1B6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1307592"/>
            <a:ext cx="1143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0F2233"/>
                </a:solidFill>
                <a:latin typeface="Calibri"/>
              </a:rPr>
              <a:t>Offline map UI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1737360"/>
            <a:ext cx="1463039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1F2933"/>
                </a:solidFill>
                <a:latin typeface="Calibri"/>
              </a:rPr>
              <a:t>osmdroid + Mapsforge vector maps; GNSS, IMU and snapped tracks drawn live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040879" y="2807208"/>
            <a:ext cx="0" cy="210312"/>
          </a:xfrm>
          <a:prstGeom prst="line">
            <a:avLst/>
          </a:prstGeom>
          <a:ln w="19050">
            <a:solidFill>
              <a:srgbClr val="F2A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166359" y="3017520"/>
            <a:ext cx="1874520" cy="0"/>
          </a:xfrm>
          <a:prstGeom prst="line">
            <a:avLst/>
          </a:prstGeom>
          <a:ln w="19050">
            <a:solidFill>
              <a:srgbClr val="F2A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5166359" y="2816351"/>
            <a:ext cx="0" cy="201169"/>
          </a:xfrm>
          <a:prstGeom prst="line">
            <a:avLst/>
          </a:prstGeom>
          <a:ln w="19050">
            <a:solidFill>
              <a:srgbClr val="F2A9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480559" y="304495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5F6B7A"/>
                </a:solidFill>
                <a:latin typeface="Calibri"/>
              </a:rPr>
              <a:t>heading feedback: matched road bearing corrects the integrator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34290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B6F8A"/>
                </a:solidFill>
                <a:latin typeface="Calibri"/>
              </a:rPr>
              <a:t>TECHNOLOGY STACK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3749039"/>
            <a:ext cx="1143000" cy="457200"/>
          </a:xfrm>
          <a:prstGeom prst="roundRect">
            <a:avLst>
              <a:gd name="adj" fmla="val 20000"/>
            </a:avLst>
          </a:prstGeom>
          <a:solidFill>
            <a:srgbClr val="0F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548640" y="3749039"/>
            <a:ext cx="1143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Mobile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10512" y="3749039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F2933"/>
                </a:solidFill>
                <a:latin typeface="Calibri"/>
              </a:rPr>
              <a:t>Kotlin, Android foreground service, single-writer sensor thread, 2 s flush so a crash costs at most two seconds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4279392"/>
            <a:ext cx="1143000" cy="457200"/>
          </a:xfrm>
          <a:prstGeom prst="roundRect">
            <a:avLst>
              <a:gd name="adj" fmla="val 20000"/>
            </a:avLst>
          </a:prstGeom>
          <a:solidFill>
            <a:srgbClr val="0F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548640" y="4279392"/>
            <a:ext cx="1143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Maps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810512" y="4279392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F2933"/>
                </a:solidFill>
                <a:latin typeface="Calibri"/>
              </a:rPr>
              <a:t>osmdroid + Mapsforge vector .map files (OpenStreetMap data, ODbL). In-app zone downloader for all of India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4809744"/>
            <a:ext cx="1143000" cy="457200"/>
          </a:xfrm>
          <a:prstGeom prst="roundRect">
            <a:avLst>
              <a:gd name="adj" fmla="val 20000"/>
            </a:avLst>
          </a:prstGeom>
          <a:solidFill>
            <a:srgbClr val="0F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548640" y="4809744"/>
            <a:ext cx="1143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AI / ML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10512" y="4809744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F2933"/>
                </a:solidFill>
                <a:latin typeface="Calibri"/>
              </a:rPr>
              <a:t>PyTorch 1-D ResNet speed head exported to TorchScript Mobile; 40 ms per inference on a dedicated thread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8640" y="5340096"/>
            <a:ext cx="1143000" cy="457200"/>
          </a:xfrm>
          <a:prstGeom prst="roundRect">
            <a:avLst>
              <a:gd name="adj" fmla="val 20000"/>
            </a:avLst>
          </a:prstGeom>
          <a:solidFill>
            <a:srgbClr val="0F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548640" y="5340096"/>
            <a:ext cx="1143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Fusion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810512" y="5340096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F2933"/>
                </a:solidFill>
                <a:latin typeface="Calibri"/>
              </a:rPr>
              <a:t>Strapdown INS + ZUPT + scalar Kalman gain on model speed; HMM Viterbi map matching; along-road tracking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48640" y="5870448"/>
            <a:ext cx="1143000" cy="457200"/>
          </a:xfrm>
          <a:prstGeom prst="roundRect">
            <a:avLst>
              <a:gd name="adj" fmla="val 20000"/>
            </a:avLst>
          </a:prstGeom>
          <a:solidFill>
            <a:srgbClr val="0F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548640" y="5870448"/>
            <a:ext cx="1143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Evaluation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810512" y="5870448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F2933"/>
                </a:solidFill>
                <a:latin typeface="Calibri"/>
              </a:rPr>
              <a:t>Python harness: CRSE, CAE, AEPS on synthetic outages cut from recorded drives, scored against GNSS truth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86600" y="34290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B6F8A"/>
                </a:solidFill>
                <a:latin typeface="Calibri"/>
              </a:rPr>
              <a:t>ON-DEVICE EXECUTION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086600" y="3749039"/>
            <a:ext cx="4553712" cy="1417320"/>
          </a:xfrm>
          <a:prstGeom prst="roundRect">
            <a:avLst>
              <a:gd name="adj" fmla="val 9677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7269480" y="3840480"/>
            <a:ext cx="109728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B6F8A"/>
                </a:solidFill>
                <a:latin typeface="Calibri"/>
              </a:rPr>
              <a:t>Thread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66760" y="3840480"/>
            <a:ext cx="246888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B6F8A"/>
                </a:solidFill>
                <a:latin typeface="Calibri"/>
              </a:rPr>
              <a:t>Owns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835640" y="3840480"/>
            <a:ext cx="73152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1B6F8A"/>
                </a:solidFill>
                <a:latin typeface="Calibri"/>
              </a:rPr>
              <a:t>Rate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269480" y="4160520"/>
            <a:ext cx="109728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F2233"/>
                </a:solidFill>
                <a:latin typeface="Calibri"/>
              </a:rPr>
              <a:t>imu-logger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66760" y="4160520"/>
            <a:ext cx="246888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F2933"/>
                </a:solidFill>
                <a:latin typeface="Calibri"/>
              </a:rPr>
              <a:t>Sensor + GNSS callbacks, all file writes, integrator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835640" y="4160520"/>
            <a:ext cx="73152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0F2233"/>
                </a:solidFill>
                <a:latin typeface="Calibri"/>
              </a:rPr>
              <a:t>200 Hz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9480" y="4480559"/>
            <a:ext cx="109728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F2233"/>
                </a:solidFill>
                <a:latin typeface="Calibri"/>
              </a:rPr>
              <a:t>imu-ml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66760" y="4480559"/>
            <a:ext cx="246888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F2933"/>
                </a:solidFill>
                <a:latin typeface="Calibri"/>
              </a:rPr>
              <a:t>Model load and inference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835640" y="4480559"/>
            <a:ext cx="73152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0F2233"/>
                </a:solidFill>
                <a:latin typeface="Calibri"/>
              </a:rPr>
              <a:t>10 Hz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269480" y="4800599"/>
            <a:ext cx="109728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F2233"/>
                </a:solidFill>
                <a:latin typeface="Calibri"/>
              </a:rPr>
              <a:t>map-match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66760" y="4800599"/>
            <a:ext cx="246888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F2933"/>
                </a:solidFill>
                <a:latin typeface="Calibri"/>
              </a:rPr>
              <a:t>Tile reads, HMM matcher, road graph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835640" y="4800599"/>
            <a:ext cx="73152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0F2233"/>
                </a:solidFill>
                <a:latin typeface="Calibri"/>
              </a:rPr>
              <a:t>0.5 Hz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086600" y="5303520"/>
            <a:ext cx="4553712" cy="1005840"/>
          </a:xfrm>
          <a:prstGeom prst="roundRect">
            <a:avLst>
              <a:gd name="adj" fmla="val 13636"/>
            </a:avLst>
          </a:prstGeom>
          <a:solidFill>
            <a:srgbClr val="FD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7269480" y="5376672"/>
            <a:ext cx="4206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0F2233"/>
                </a:solidFill>
                <a:latin typeface="Calibri"/>
              </a:rPr>
              <a:t>Exactly one writer thread, no locks. </a:t>
            </a:r>
            <a:r>
              <a:rPr sz="1050" b="0" i="0">
                <a:solidFill>
                  <a:srgbClr val="1F2933"/>
                </a:solidFill>
                <a:latin typeface="Calibri"/>
              </a:rPr>
              <a:t>Inference results are posted back to the logger thread; stale requests are dropped rather than queued. GNSS is trusted only with 4+ satellites used and accuracy under 20 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F2233"/>
                </a:solidFill>
                <a:latin typeface="Calibri"/>
              </a:rPr>
              <a:t>Feasibility &amp; Viability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Calibri"/>
              </a:rPr>
              <a:t>Smart India Hackathon 2026  ·  Intelligent Dead Reckoning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Calibri"/>
              </a:rPr>
              <a:t>4 /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B6F8A"/>
                </a:solidFill>
                <a:latin typeface="Calibri"/>
              </a:rPr>
              <a:t>MEASURED ON DEVICE: POSITION ERROR DURING SYNTHETIC GNSS OUTAGES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371600"/>
          <a:ext cx="594360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663440"/>
            <a:ext cx="5852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1">
                <a:solidFill>
                  <a:srgbClr val="5F6B7A"/>
                </a:solidFill>
                <a:latin typeface="Calibri"/>
              </a:rPr>
              <a:t>46 to 57 outages per duration, cut from recorded sessions and scored against GNSS ground truth. Along-road tracking cuts 60-second error by 42% once it is fed a trustworthy distance.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109728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B6F8A"/>
                </a:solidFill>
                <a:latin typeface="Calibri"/>
              </a:rPr>
              <a:t>WORKING TODAY</a:t>
            </a:r>
          </a:p>
        </p:txBody>
      </p:sp>
      <p:sp>
        <p:nvSpPr>
          <p:cNvPr id="9" name="Oval 8"/>
          <p:cNvSpPr/>
          <p:nvPr/>
        </p:nvSpPr>
        <p:spPr>
          <a:xfrm>
            <a:off x="6766560" y="1463040"/>
            <a:ext cx="274320" cy="274320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417320"/>
            <a:ext cx="44805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1F2933"/>
                </a:solidFill>
                <a:latin typeface="Calibri"/>
              </a:rPr>
              <a:t>Android app records 11 sensor streams on a Samsung Galaxy S21 FE, time-aligned on one monotonic clock</a:t>
            </a:r>
          </a:p>
        </p:txBody>
      </p:sp>
      <p:sp>
        <p:nvSpPr>
          <p:cNvPr id="11" name="Oval 10"/>
          <p:cNvSpPr/>
          <p:nvPr/>
        </p:nvSpPr>
        <p:spPr>
          <a:xfrm>
            <a:off x="6766560" y="2084831"/>
            <a:ext cx="274320" cy="274320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2039112"/>
            <a:ext cx="44805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1F2933"/>
                </a:solidFill>
                <a:latin typeface="Calibri"/>
              </a:rPr>
              <a:t>Dead reckoning with map-matched heading feedback runs on the phone and is measured, not simulated</a:t>
            </a:r>
          </a:p>
        </p:txBody>
      </p:sp>
      <p:sp>
        <p:nvSpPr>
          <p:cNvPr id="13" name="Oval 12"/>
          <p:cNvSpPr/>
          <p:nvPr/>
        </p:nvSpPr>
        <p:spPr>
          <a:xfrm>
            <a:off x="6766560" y="2706624"/>
            <a:ext cx="274320" cy="274320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2660904"/>
            <a:ext cx="44805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1F2933"/>
                </a:solidFill>
                <a:latin typeface="Calibri"/>
              </a:rPr>
              <a:t>Road topology recovered on device: 25,383 segments around IIT Kharagpur, 100% linked, 98.5% in one component</a:t>
            </a:r>
          </a:p>
        </p:txBody>
      </p:sp>
      <p:sp>
        <p:nvSpPr>
          <p:cNvPr id="15" name="Oval 14"/>
          <p:cNvSpPr/>
          <p:nvPr/>
        </p:nvSpPr>
        <p:spPr>
          <a:xfrm>
            <a:off x="6766560" y="3328416"/>
            <a:ext cx="274320" cy="274320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3282696"/>
            <a:ext cx="44805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1F2933"/>
                </a:solidFill>
                <a:latin typeface="Calibri"/>
              </a:rPr>
              <a:t>Offline maps render with no tile server; zones for the rest of India download in-app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212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B6F8A"/>
                </a:solidFill>
                <a:latin typeface="Calibri"/>
              </a:rPr>
              <a:t>CHALLENGES &amp; HOW WE CLOSE THEM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532120"/>
            <a:ext cx="3611880" cy="868680"/>
          </a:xfrm>
          <a:prstGeom prst="roundRect">
            <a:avLst>
              <a:gd name="adj" fmla="val 12631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85800" y="5577840"/>
            <a:ext cx="3337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F2233"/>
                </a:solidFill>
                <a:latin typeface="Calibri"/>
              </a:rPr>
              <a:t>Along-track bias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806440"/>
            <a:ext cx="33375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1F2933"/>
                </a:solidFill>
                <a:latin typeface="Calibri"/>
              </a:rPr>
              <a:t>A -0.02 m/s² acceleration bias costs ~30% of distance over 60 s unaided. Fix: learn horizontal bias against GNSS velocity while the fix is healthy, carry it into the outage.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06824" y="5532120"/>
            <a:ext cx="3611880" cy="868680"/>
          </a:xfrm>
          <a:prstGeom prst="roundRect">
            <a:avLst>
              <a:gd name="adj" fmla="val 12631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443984" y="5577840"/>
            <a:ext cx="3337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F2233"/>
                </a:solidFill>
                <a:latin typeface="Calibri"/>
              </a:rPr>
              <a:t>Under-trained speed 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984" y="5806440"/>
            <a:ext cx="33375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1F2933"/>
                </a:solidFill>
                <a:latin typeface="Calibri"/>
              </a:rPr>
              <a:t>304 training windows, walking pace only. Fix: record vehicle-speed drives, retrain, and enable speed fusion only if it beats a constant predictor.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65008" y="5532120"/>
            <a:ext cx="3611880" cy="868680"/>
          </a:xfrm>
          <a:prstGeom prst="roundRect">
            <a:avLst>
              <a:gd name="adj" fmla="val 12631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202168" y="5577840"/>
            <a:ext cx="3337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F2233"/>
                </a:solidFill>
                <a:latin typeface="Calibri"/>
              </a:rPr>
              <a:t>Map size and field validation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02168" y="5806440"/>
            <a:ext cx="33375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1F2933"/>
                </a:solidFill>
                <a:latin typeface="Calibri"/>
              </a:rPr>
              <a:t>The 210 MB zone map ships as a release asset with an in-app downloader. Heading feedback has run only in replay; next step is a live road test.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F2233"/>
                </a:solidFill>
                <a:latin typeface="Calibri"/>
              </a:rPr>
              <a:t>Impact &amp;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Calibri"/>
              </a:rPr>
              <a:t>Smart India Hackathon 2026  ·  Intelligent Dead Reckoning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Calibri"/>
              </a:rPr>
              <a:t>5 /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2679192" cy="1234440"/>
          </a:xfrm>
          <a:prstGeom prst="roundRect">
            <a:avLst>
              <a:gd name="adj" fmla="val 11111"/>
            </a:avLst>
          </a:prstGeom>
          <a:solidFill>
            <a:srgbClr val="0F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231343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 i="0">
                <a:solidFill>
                  <a:srgbClr val="F2A93B"/>
                </a:solidFill>
                <a:latin typeface="Calibri"/>
              </a:rPr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10512"/>
            <a:ext cx="23134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C9D6E2"/>
                </a:solidFill>
                <a:latin typeface="Calibri"/>
              </a:rPr>
              <a:t>cloud calls, servers or API keys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64992" y="1143000"/>
            <a:ext cx="2679192" cy="1234440"/>
          </a:xfrm>
          <a:prstGeom prst="roundRect">
            <a:avLst>
              <a:gd name="adj" fmla="val 11111"/>
            </a:avLst>
          </a:prstGeom>
          <a:solidFill>
            <a:srgbClr val="0F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547872" y="1188720"/>
            <a:ext cx="231343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 i="0">
                <a:solidFill>
                  <a:srgbClr val="F2A93B"/>
                </a:solidFill>
                <a:latin typeface="Calibri"/>
              </a:rPr>
              <a:t>10 Hz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47872" y="1810512"/>
            <a:ext cx="23134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C9D6E2"/>
                </a:solidFill>
                <a:latin typeface="Calibri"/>
              </a:rPr>
              <a:t>position updates on the handset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143000"/>
            <a:ext cx="2679192" cy="1234440"/>
          </a:xfrm>
          <a:prstGeom prst="roundRect">
            <a:avLst>
              <a:gd name="adj" fmla="val 11111"/>
            </a:avLst>
          </a:prstGeom>
          <a:solidFill>
            <a:srgbClr val="0F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364224" y="1188720"/>
            <a:ext cx="231343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 i="0">
                <a:solidFill>
                  <a:srgbClr val="F2A93B"/>
                </a:solidFill>
                <a:latin typeface="Calibri"/>
              </a:rPr>
              <a:t>42%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1810512"/>
            <a:ext cx="23134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C9D6E2"/>
                </a:solidFill>
                <a:latin typeface="Calibri"/>
              </a:rPr>
              <a:t>lower 60 s outage error with along-road tracking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97696" y="1143000"/>
            <a:ext cx="2679192" cy="1234440"/>
          </a:xfrm>
          <a:prstGeom prst="roundRect">
            <a:avLst>
              <a:gd name="adj" fmla="val 11111"/>
            </a:avLst>
          </a:prstGeom>
          <a:solidFill>
            <a:srgbClr val="0F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180576" y="1188720"/>
            <a:ext cx="231343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 i="0">
                <a:solidFill>
                  <a:srgbClr val="F2A93B"/>
                </a:solidFill>
                <a:latin typeface="Calibri"/>
              </a:rP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0576" y="1810512"/>
            <a:ext cx="23134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C9D6E2"/>
                </a:solidFill>
                <a:latin typeface="Calibri"/>
              </a:rPr>
              <a:t>of India coverable with free OSM zone maps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606040"/>
            <a:ext cx="3611880" cy="2606040"/>
          </a:xfrm>
          <a:prstGeom prst="roundRect">
            <a:avLst>
              <a:gd name="adj" fmla="val 5263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731520" y="2761488"/>
            <a:ext cx="274320" cy="274320"/>
          </a:xfrm>
          <a:prstGeom prst="ellipse">
            <a:avLst/>
          </a:prstGeom>
          <a:solidFill>
            <a:srgbClr val="1B6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568" y="2697480"/>
            <a:ext cx="2880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0F2233"/>
                </a:solidFill>
                <a:latin typeface="Calibri"/>
              </a:rPr>
              <a:t>Social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200400"/>
            <a:ext cx="3246120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64592">
              <a:lnSpc>
                <a:spcPct val="108000"/>
              </a:lnSpc>
              <a:spcAft>
                <a:spcPts val="800"/>
              </a:spcAft>
              <a:buChar char="•"/>
            </a:pPr>
            <a:r>
              <a:rPr sz="1200" b="0" i="0">
                <a:solidFill>
                  <a:srgbClr val="1F2933"/>
                </a:solidFill>
                <a:latin typeface="Calibri"/>
              </a:rPr>
              <a:t>Drivers, ambulances and delivery riders keep guidance through tunnels, underpasses and hill-road cuttings</a:t>
            </a:r>
          </a:p>
          <a:p>
            <a:pPr algn="l" marL="164592" indent="-164592">
              <a:lnSpc>
                <a:spcPct val="108000"/>
              </a:lnSpc>
              <a:spcAft>
                <a:spcPts val="800"/>
              </a:spcAft>
              <a:buChar char="•"/>
            </a:pPr>
            <a:r>
              <a:rPr sz="1200" b="0" i="0">
                <a:solidFill>
                  <a:srgbClr val="1F2933"/>
                </a:solidFill>
                <a:latin typeface="Calibri"/>
              </a:rPr>
              <a:t>No wrong turn at a tunnel exit: the position is already on the right road when the sky returns</a:t>
            </a:r>
          </a:p>
          <a:p>
            <a:pPr algn="l" marL="164592" indent="-164592">
              <a:lnSpc>
                <a:spcPct val="108000"/>
              </a:lnSpc>
              <a:spcAft>
                <a:spcPts val="800"/>
              </a:spcAft>
              <a:buChar char="•"/>
            </a:pPr>
            <a:r>
              <a:rPr sz="1200" b="0" i="0">
                <a:solidFill>
                  <a:srgbClr val="1F2933"/>
                </a:solidFill>
                <a:latin typeface="Calibri"/>
              </a:rPr>
              <a:t>Works on the phone people already own; nothing to buy or install in the vehicle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06824" y="2606040"/>
            <a:ext cx="3611880" cy="2606040"/>
          </a:xfrm>
          <a:prstGeom prst="roundRect">
            <a:avLst>
              <a:gd name="adj" fmla="val 5263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4489704" y="2761488"/>
            <a:ext cx="274320" cy="274320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73752" y="2697480"/>
            <a:ext cx="2880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0F2233"/>
                </a:solidFill>
                <a:latin typeface="Calibri"/>
              </a:rPr>
              <a:t>Economic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9704" y="3200400"/>
            <a:ext cx="3246120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64592">
              <a:lnSpc>
                <a:spcPct val="108000"/>
              </a:lnSpc>
              <a:spcAft>
                <a:spcPts val="800"/>
              </a:spcAft>
              <a:buChar char="•"/>
            </a:pPr>
            <a:r>
              <a:rPr sz="1200" b="0" i="0">
                <a:solidFill>
                  <a:srgbClr val="1F2933"/>
                </a:solidFill>
                <a:latin typeface="Calibri"/>
              </a:rPr>
              <a:t>Zero recurring cost: no map API billing, no data plan, no server to run</a:t>
            </a:r>
          </a:p>
          <a:p>
            <a:pPr algn="l" marL="164592" indent="-164592">
              <a:lnSpc>
                <a:spcPct val="108000"/>
              </a:lnSpc>
              <a:spcAft>
                <a:spcPts val="800"/>
              </a:spcAft>
              <a:buChar char="•"/>
            </a:pPr>
            <a:r>
              <a:rPr sz="1200" b="0" i="0">
                <a:solidFill>
                  <a:srgbClr val="1F2933"/>
                </a:solidFill>
                <a:latin typeface="Calibri"/>
              </a:rPr>
              <a:t>Fleet and logistics tracking that does not go blind under flyovers or in parking decks</a:t>
            </a:r>
          </a:p>
          <a:p>
            <a:pPr algn="l" marL="164592" indent="-164592">
              <a:lnSpc>
                <a:spcPct val="108000"/>
              </a:lnSpc>
              <a:spcAft>
                <a:spcPts val="800"/>
              </a:spcAft>
              <a:buChar char="•"/>
            </a:pPr>
            <a:r>
              <a:rPr sz="1200" b="0" i="0">
                <a:solidFill>
                  <a:srgbClr val="1F2933"/>
                </a:solidFill>
                <a:latin typeface="Calibri"/>
              </a:rPr>
              <a:t>One codebase for OEM navigation, ride-hailing and toll or road-agency apps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65008" y="2606040"/>
            <a:ext cx="3611880" cy="2606040"/>
          </a:xfrm>
          <a:prstGeom prst="roundRect">
            <a:avLst>
              <a:gd name="adj" fmla="val 5263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8247888" y="2761488"/>
            <a:ext cx="274320" cy="274320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31936" y="2697480"/>
            <a:ext cx="2880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0F2233"/>
                </a:solidFill>
                <a:latin typeface="Calibri"/>
              </a:rPr>
              <a:t>Strategic &amp; Environmental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47888" y="3200400"/>
            <a:ext cx="3246120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64592">
              <a:lnSpc>
                <a:spcPct val="108000"/>
              </a:lnSpc>
              <a:spcAft>
                <a:spcPts val="800"/>
              </a:spcAft>
              <a:buChar char="•"/>
            </a:pPr>
            <a:r>
              <a:rPr sz="1200" b="0" i="0">
                <a:solidFill>
                  <a:srgbClr val="1F2933"/>
                </a:solidFill>
                <a:latin typeface="Calibri"/>
              </a:rPr>
              <a:t>Location never leaves the device: privacy by construction</a:t>
            </a:r>
          </a:p>
          <a:p>
            <a:pPr algn="l" marL="164592" indent="-164592">
              <a:lnSpc>
                <a:spcPct val="108000"/>
              </a:lnSpc>
              <a:spcAft>
                <a:spcPts val="800"/>
              </a:spcAft>
              <a:buChar char="•"/>
            </a:pPr>
            <a:r>
              <a:rPr sz="1200" b="0" i="0">
                <a:solidFill>
                  <a:srgbClr val="1F2933"/>
                </a:solidFill>
                <a:latin typeface="Calibri"/>
              </a:rPr>
              <a:t>Offline by design, so it serves low-connectivity and remote regions first, not last</a:t>
            </a:r>
          </a:p>
          <a:p>
            <a:pPr algn="l" marL="164592" indent="-164592">
              <a:lnSpc>
                <a:spcPct val="108000"/>
              </a:lnSpc>
              <a:spcAft>
                <a:spcPts val="800"/>
              </a:spcAft>
              <a:buChar char="•"/>
            </a:pPr>
            <a:r>
              <a:rPr sz="1200" b="0" i="0">
                <a:solidFill>
                  <a:srgbClr val="1F2933"/>
                </a:solidFill>
                <a:latin typeface="Calibri"/>
              </a:rPr>
              <a:t>Fewer missed exits and detours means less fuel burnt; road topology from OSM is open and reusable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394960"/>
            <a:ext cx="11091672" cy="822960"/>
          </a:xfrm>
          <a:prstGeom prst="roundRect">
            <a:avLst>
              <a:gd name="adj" fmla="val 16666"/>
            </a:avLst>
          </a:prstGeom>
          <a:solidFill>
            <a:srgbClr val="E3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31520" y="544068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0F2233"/>
                </a:solidFill>
                <a:latin typeface="Calibri"/>
              </a:rPr>
              <a:t>Scalability. </a:t>
            </a:r>
            <a:r>
              <a:rPr sz="1150" b="0" i="0">
                <a:solidFill>
                  <a:srgbClr val="1F2933"/>
                </a:solidFill>
                <a:latin typeface="Calibri"/>
              </a:rPr>
              <a:t>One Mapsforge file per zone (210 MB for eastern India, 1.5 GB for the whole country). The same estimator extends to metro and rail, indoor parking and two-wheelers, and its measured outage harness lets every future change be gated on numbers.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F2233"/>
                </a:solidFill>
                <a:latin typeface="Calibri"/>
              </a:rPr>
              <a:t>Research &amp;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Calibri"/>
              </a:rPr>
              <a:t>Smart India Hackathon 2026  ·  Intelligent Dead Reckoning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Calibri"/>
              </a:rPr>
              <a:t>6 /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B6F8A"/>
                </a:solidFill>
                <a:latin typeface="Calibri"/>
              </a:rPr>
              <a:t>LITERATURE WE BUILD 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0F2233"/>
                </a:solidFill>
                <a:latin typeface="Calibri"/>
              </a:rPr>
              <a:t>Brossard, Barrau, Bonnabel (2019). </a:t>
            </a:r>
            <a:r>
              <a:rPr sz="1050" b="0" i="0">
                <a:solidFill>
                  <a:srgbClr val="1F2933"/>
                </a:solidFill>
                <a:latin typeface="Calibri"/>
              </a:rPr>
              <a:t>AI-IMU Dead-Reckoning. arXiv:1904.06064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0F2233"/>
                </a:solidFill>
                <a:latin typeface="Calibri"/>
              </a:rPr>
              <a:t>Hurwitz, Cohen, Klein (2024). </a:t>
            </a:r>
            <a:r>
              <a:rPr sz="1050" b="0" i="0">
                <a:solidFill>
                  <a:srgbClr val="1F2933"/>
                </a:solidFill>
                <a:latin typeface="Calibri"/>
              </a:rPr>
              <a:t>Deep Learning Assisted Inertial Dead Reckoning and Fusion. arXiv:2407.16387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0F2233"/>
                </a:solidFill>
                <a:latin typeface="Calibri"/>
              </a:rPr>
              <a:t>Gomes, Costa (2020). </a:t>
            </a:r>
            <a:r>
              <a:rPr sz="1050" b="0" i="0">
                <a:solidFill>
                  <a:srgbClr val="1F2933"/>
                </a:solidFill>
                <a:latin typeface="Calibri"/>
              </a:rPr>
              <a:t>Vehicular Dead Reckoning Based on Machine Learning and Map Matching. IEEE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8892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0F2233"/>
                </a:solidFill>
                <a:latin typeface="Calibri"/>
              </a:rPr>
              <a:t>Suwandi, Kitasuka, Aritsugi (2019). </a:t>
            </a:r>
            <a:r>
              <a:rPr sz="1050" b="0" i="0">
                <a:solidFill>
                  <a:srgbClr val="1F2933"/>
                </a:solidFill>
                <a:latin typeface="Calibri"/>
              </a:rPr>
              <a:t>Vehicle Vibration Error Compensation on IMU-accelerometer Sensor Using Adaptive Filter and Low-pass Filter Approaches. J. Inf. Processing 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0F2233"/>
                </a:solidFill>
                <a:latin typeface="Calibri"/>
              </a:rPr>
              <a:t>Nirmal et al. (2016). </a:t>
            </a:r>
            <a:r>
              <a:rPr sz="1050" b="0" i="0">
                <a:solidFill>
                  <a:srgbClr val="1F2933"/>
                </a:solidFill>
                <a:latin typeface="Calibri"/>
              </a:rPr>
              <a:t>Noise modeling and analysis of an IMU-based attitude sensor. arXiv:1608.07053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70332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0F2233"/>
                </a:solidFill>
                <a:latin typeface="Calibri"/>
              </a:rPr>
              <a:t>Chao et al. (2022). </a:t>
            </a:r>
            <a:r>
              <a:rPr sz="1050" b="0" i="0">
                <a:solidFill>
                  <a:srgbClr val="1F2933"/>
                </a:solidFill>
                <a:latin typeface="Calibri"/>
              </a:rPr>
              <a:t>A Comprehensive Review of Map-Matching Techniques. Int. J. Web Services Research 19(1)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6052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0F2233"/>
                </a:solidFill>
                <a:latin typeface="Calibri"/>
              </a:rPr>
              <a:t>Newson, Krumm (2009). </a:t>
            </a:r>
            <a:r>
              <a:rPr sz="1050" b="0" i="0">
                <a:solidFill>
                  <a:srgbClr val="1F2933"/>
                </a:solidFill>
                <a:latin typeface="Calibri"/>
              </a:rPr>
              <a:t>Hidden Markov Map Matching Through Noise and Sparseness. ACM SIGSPATIAL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61772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0F2233"/>
                </a:solidFill>
                <a:latin typeface="Calibri"/>
              </a:rPr>
              <a:t>IO-VNBD (Coventry Univ.). </a:t>
            </a:r>
            <a:r>
              <a:rPr sz="1050" b="0" i="0">
                <a:solidFill>
                  <a:srgbClr val="1F2933"/>
                </a:solidFill>
                <a:latin typeface="Calibri"/>
              </a:rPr>
              <a:t>Inertial and Odometry Vehicle Navigation Benchmark Dataset for model training and CRSE / CAE / AEPS metric definitions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109728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B6F8A"/>
                </a:solidFill>
                <a:latin typeface="Calibri"/>
              </a:rPr>
              <a:t>EXISTING SOLUTIONS STUDIED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417320"/>
            <a:ext cx="3867912" cy="1005840"/>
          </a:xfrm>
          <a:prstGeom prst="roundRect">
            <a:avLst>
              <a:gd name="adj" fmla="val 10909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936992" y="1490472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2233"/>
                </a:solidFill>
                <a:latin typeface="Calibri"/>
              </a:rPr>
              <a:t>Google Maps SDK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36992" y="1764792"/>
            <a:ext cx="3566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1F2933"/>
                </a:solidFill>
                <a:latin typeface="Calibri"/>
              </a:rPr>
              <a:t>No offline tile access, no dead-reckoning hook, billing account required. We use OSM data under ODbL instead.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2532888"/>
            <a:ext cx="3867912" cy="1005840"/>
          </a:xfrm>
          <a:prstGeom prst="roundRect">
            <a:avLst>
              <a:gd name="adj" fmla="val 10909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936992" y="260604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2233"/>
                </a:solidFill>
                <a:latin typeface="Calibri"/>
              </a:rPr>
              <a:t>OSRM-based map matching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6992" y="2880360"/>
            <a:ext cx="3566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1F2933"/>
                </a:solidFill>
                <a:latin typeface="Calibri"/>
              </a:rPr>
              <a:t>Accurate, but needs a routing server. We rebuild road connectivity on the handset from Mapsforge tiles.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0" y="3648456"/>
            <a:ext cx="3867912" cy="1005840"/>
          </a:xfrm>
          <a:prstGeom prst="roundRect">
            <a:avLst>
              <a:gd name="adj" fmla="val 10909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936992" y="3721608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2233"/>
                </a:solidFill>
                <a:latin typeface="Calibri"/>
              </a:rPr>
              <a:t>Learned inertial odometry (RoNIN, AI-IMU)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36992" y="3995928"/>
            <a:ext cx="3566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1F2933"/>
                </a:solidFill>
                <a:latin typeface="Calibri"/>
              </a:rPr>
              <a:t>Strong results with dense training data. Our speed head reuses the idea but is gated until it beats a constant.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0" y="4800600"/>
            <a:ext cx="3867912" cy="1417320"/>
          </a:xfrm>
          <a:prstGeom prst="roundRect">
            <a:avLst>
              <a:gd name="adj" fmla="val 9677"/>
            </a:avLst>
          </a:prstGeom>
          <a:solidFill>
            <a:srgbClr val="0F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955279" y="4864608"/>
            <a:ext cx="356616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F2A93B"/>
                </a:solidFill>
                <a:latin typeface="Calibri"/>
              </a:rPr>
              <a:t>Open data and tools. </a:t>
            </a:r>
            <a:r>
              <a:rPr sz="1050" b="0" i="0">
                <a:solidFill>
                  <a:srgbClr val="DDE7EF"/>
                </a:solidFill>
                <a:latin typeface="Calibri"/>
              </a:rPr>
              <a:t>OpenStreetMap (ODbL), Mapsforge map builds, osmdroid, PyTorch Mobile, Android Sensor and GNSS status APIs. Every number in this deck is reproducible from the committed evaluation harness against recorded sessions.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